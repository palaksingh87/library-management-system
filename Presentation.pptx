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Wellfleet" charset="1" panose="02040503050600060704"/>
      <p:regular r:id="rId17"/>
    </p:embeddedFont>
    <p:embeddedFont>
      <p:font typeface="Carollo Playscript" charset="1" panose="00000000000000000000"/>
      <p:regular r:id="rId18"/>
    </p:embeddedFont>
    <p:embeddedFont>
      <p:font typeface="Carollo Playscrip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harshitanegics28/Library-Management-System" TargetMode="External" Type="http://schemas.openxmlformats.org/officeDocument/2006/relationships/hyperlink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14945" y="1628689"/>
            <a:ext cx="7644355" cy="7029621"/>
          </a:xfrm>
          <a:custGeom>
            <a:avLst/>
            <a:gdLst/>
            <a:ahLst/>
            <a:cxnLst/>
            <a:rect r="r" b="b" t="t" l="l"/>
            <a:pathLst>
              <a:path h="7029621" w="7644355">
                <a:moveTo>
                  <a:pt x="0" y="0"/>
                </a:moveTo>
                <a:lnTo>
                  <a:pt x="7644355" y="0"/>
                </a:lnTo>
                <a:lnTo>
                  <a:pt x="7644355" y="7029622"/>
                </a:lnTo>
                <a:lnTo>
                  <a:pt x="0" y="702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89256" y="1290255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28281" y="7738765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25909" y="6141138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13988" y="721327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15803" y="-491499"/>
            <a:ext cx="1928197" cy="1978560"/>
          </a:xfrm>
          <a:custGeom>
            <a:avLst/>
            <a:gdLst/>
            <a:ahLst/>
            <a:cxnLst/>
            <a:rect r="r" b="b" t="t" l="l"/>
            <a:pathLst>
              <a:path h="1978560" w="1928197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37123" y="9258300"/>
            <a:ext cx="1900973" cy="1950626"/>
          </a:xfrm>
          <a:custGeom>
            <a:avLst/>
            <a:gdLst/>
            <a:ahLst/>
            <a:cxnLst/>
            <a:rect r="r" b="b" t="t" l="l"/>
            <a:pathLst>
              <a:path h="1950626" w="1900973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4988" y="4720002"/>
            <a:ext cx="8879957" cy="1859271"/>
          </a:xfrm>
          <a:custGeom>
            <a:avLst/>
            <a:gdLst/>
            <a:ahLst/>
            <a:cxnLst/>
            <a:rect r="r" b="b" t="t" l="l"/>
            <a:pathLst>
              <a:path h="1859271" w="8879957">
                <a:moveTo>
                  <a:pt x="0" y="0"/>
                </a:moveTo>
                <a:lnTo>
                  <a:pt x="8879957" y="0"/>
                </a:lnTo>
                <a:lnTo>
                  <a:pt x="8879957" y="1859271"/>
                </a:lnTo>
                <a:lnTo>
                  <a:pt x="0" y="1859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838825" y="1869090"/>
            <a:ext cx="281340" cy="28134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2575" y="2639999"/>
            <a:ext cx="8374624" cy="225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1"/>
              </a:lnSpc>
            </a:pPr>
            <a:r>
              <a:rPr lang="en-US" sz="13172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LIBRARY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567" y="4898841"/>
            <a:ext cx="7662433" cy="1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7"/>
              </a:lnSpc>
            </a:pPr>
            <a:r>
              <a:rPr lang="en-US" sz="4969">
                <a:solidFill>
                  <a:srgbClr val="FFF6E7"/>
                </a:solidFill>
                <a:latin typeface="Wellfleet"/>
                <a:ea typeface="Wellfleet"/>
                <a:cs typeface="Wellfleet"/>
                <a:sym typeface="Wellfleet"/>
              </a:rPr>
              <a:t>MANAGEMENT SYSTEM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575" y="6582226"/>
            <a:ext cx="8374624" cy="77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DBMS PROJECT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986616" y="2354270"/>
            <a:ext cx="8917697" cy="131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OUR TEAM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16922" y="4609304"/>
            <a:ext cx="11940095" cy="245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536" indent="-379268" lvl="1">
              <a:lnSpc>
                <a:spcPts val="4918"/>
              </a:lnSpc>
              <a:buFont typeface="Arial"/>
              <a:buChar char="•"/>
            </a:pPr>
            <a:r>
              <a:rPr lang="en-US" sz="351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HARSHITA NEGI (2410030521)</a:t>
            </a:r>
          </a:p>
          <a:p>
            <a:pPr algn="l" marL="758536" indent="-379268" lvl="1">
              <a:lnSpc>
                <a:spcPts val="4918"/>
              </a:lnSpc>
              <a:buFont typeface="Arial"/>
              <a:buChar char="•"/>
            </a:pPr>
            <a:r>
              <a:rPr lang="en-US" sz="351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SAUMYA KUMAR SINGH (2410030511)</a:t>
            </a:r>
          </a:p>
          <a:p>
            <a:pPr algn="l" marL="758536" indent="-379268" lvl="1">
              <a:lnSpc>
                <a:spcPts val="4918"/>
              </a:lnSpc>
              <a:buFont typeface="Arial"/>
              <a:buChar char="•"/>
            </a:pPr>
            <a:r>
              <a:rPr lang="en-US" sz="351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SARITA KUMARI (2410031612)</a:t>
            </a:r>
          </a:p>
          <a:p>
            <a:pPr algn="l" marL="758536" indent="-379268" lvl="1">
              <a:lnSpc>
                <a:spcPts val="4918"/>
              </a:lnSpc>
              <a:buFont typeface="Arial"/>
              <a:buChar char="•"/>
            </a:pPr>
            <a:r>
              <a:rPr lang="en-US" sz="351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PALAK SINGH (2410030740)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02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041630" y="2879039"/>
            <a:ext cx="5246370" cy="52463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162" y="0"/>
                  </a:moveTo>
                  <a:lnTo>
                    <a:pt x="731638" y="0"/>
                  </a:lnTo>
                  <a:cubicBezTo>
                    <a:pt x="776463" y="0"/>
                    <a:pt x="812800" y="36337"/>
                    <a:pt x="812800" y="81162"/>
                  </a:cubicBezTo>
                  <a:lnTo>
                    <a:pt x="812800" y="731638"/>
                  </a:lnTo>
                  <a:cubicBezTo>
                    <a:pt x="812800" y="776463"/>
                    <a:pt x="776463" y="812800"/>
                    <a:pt x="731638" y="812800"/>
                  </a:cubicBezTo>
                  <a:lnTo>
                    <a:pt x="81162" y="812800"/>
                  </a:lnTo>
                  <a:cubicBezTo>
                    <a:pt x="36337" y="812800"/>
                    <a:pt x="0" y="776463"/>
                    <a:pt x="0" y="731638"/>
                  </a:cubicBezTo>
                  <a:lnTo>
                    <a:pt x="0" y="81162"/>
                  </a:lnTo>
                  <a:cubicBezTo>
                    <a:pt x="0" y="36337"/>
                    <a:pt x="36337" y="0"/>
                    <a:pt x="81162" y="0"/>
                  </a:cubicBezTo>
                  <a:close/>
                </a:path>
              </a:pathLst>
            </a:custGeom>
            <a:blipFill>
              <a:blip r:embed="rId10"/>
              <a:stretch>
                <a:fillRect l="-24906" t="0" r="-2490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36314" y="2066925"/>
            <a:ext cx="8917697" cy="131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INTRODUCTION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3965845"/>
            <a:ext cx="13041630" cy="38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525" indent="-394262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A </a:t>
            </a:r>
            <a:r>
              <a:rPr lang="en-US" sz="3652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Library Management System is a database application.</a:t>
            </a:r>
          </a:p>
          <a:p>
            <a:pPr algn="l" marL="788525" indent="-394262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It helps manage books, members, and transactions</a:t>
            </a:r>
          </a:p>
          <a:p>
            <a:pPr algn="l" marL="788525" indent="-394262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Uses DBMS concepts for efficient data handling.</a:t>
            </a:r>
          </a:p>
          <a:p>
            <a:pPr algn="l">
              <a:lnSpc>
                <a:spcPts val="511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03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73594" y="1513914"/>
            <a:ext cx="8917697" cy="26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PROBLEM STATEMENT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9756" y="4785676"/>
            <a:ext cx="19223070" cy="3406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3220" indent="-421610" lvl="1">
              <a:lnSpc>
                <a:spcPts val="5467"/>
              </a:lnSpc>
              <a:buFont typeface="Arial"/>
              <a:buChar char="•"/>
            </a:pPr>
            <a:r>
              <a:rPr lang="en-US" sz="390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Manual syst</a:t>
            </a:r>
            <a:r>
              <a:rPr lang="en-US" sz="390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em is time-consuming</a:t>
            </a:r>
          </a:p>
          <a:p>
            <a:pPr algn="l" marL="843220" indent="-421610" lvl="1">
              <a:lnSpc>
                <a:spcPts val="5467"/>
              </a:lnSpc>
              <a:buFont typeface="Arial"/>
              <a:buChar char="•"/>
            </a:pPr>
            <a:r>
              <a:rPr lang="en-US" sz="390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High chances of errors</a:t>
            </a:r>
          </a:p>
          <a:p>
            <a:pPr algn="l" marL="843220" indent="-421610" lvl="1">
              <a:lnSpc>
                <a:spcPts val="5467"/>
              </a:lnSpc>
              <a:buFont typeface="Arial"/>
              <a:buChar char="•"/>
            </a:pPr>
            <a:r>
              <a:rPr lang="en-US" sz="390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Difficult to manage large data</a:t>
            </a:r>
          </a:p>
          <a:p>
            <a:pPr algn="l" marL="843220" indent="-421610" lvl="1">
              <a:lnSpc>
                <a:spcPts val="5467"/>
              </a:lnSpc>
              <a:buFont typeface="Arial"/>
              <a:buChar char="•"/>
            </a:pPr>
            <a:r>
              <a:rPr lang="en-US" sz="390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Need for automated system</a:t>
            </a:r>
          </a:p>
          <a:p>
            <a:pPr algn="ctr">
              <a:lnSpc>
                <a:spcPts val="5467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85151" y="2254459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51922" y="3542372"/>
            <a:ext cx="14326046" cy="43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2"/>
              </a:lnSpc>
            </a:pPr>
            <a:r>
              <a:rPr lang="en-US" sz="357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 </a:t>
            </a:r>
          </a:p>
          <a:p>
            <a:pPr algn="ctr">
              <a:lnSpc>
                <a:spcPts val="5002"/>
              </a:lnSpc>
            </a:pPr>
            <a:r>
              <a:rPr lang="en-US" b="true" sz="3573">
                <a:solidFill>
                  <a:srgbClr val="46222E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 DATABASE DESIGN </a:t>
            </a:r>
          </a:p>
          <a:p>
            <a:pPr algn="ctr">
              <a:lnSpc>
                <a:spcPts val="5002"/>
              </a:lnSpc>
            </a:pPr>
            <a:r>
              <a:rPr lang="en-US" sz="357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 </a:t>
            </a:r>
          </a:p>
          <a:p>
            <a:pPr algn="l" marL="771414" indent="-385707" lvl="1">
              <a:lnSpc>
                <a:spcPts val="5002"/>
              </a:lnSpc>
              <a:buFont typeface="Arial"/>
              <a:buChar char="•"/>
            </a:pPr>
            <a:r>
              <a:rPr lang="en-US" sz="357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Tables: Book, Member, Issue, Fine, Librarian</a:t>
            </a:r>
          </a:p>
          <a:p>
            <a:pPr algn="l" marL="771414" indent="-385707" lvl="1">
              <a:lnSpc>
                <a:spcPts val="5002"/>
              </a:lnSpc>
              <a:buFont typeface="Arial"/>
              <a:buChar char="•"/>
            </a:pPr>
            <a:r>
              <a:rPr lang="en-US" sz="357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Each table has a primary key</a:t>
            </a:r>
          </a:p>
          <a:p>
            <a:pPr algn="l" marL="771414" indent="-385707" lvl="1">
              <a:lnSpc>
                <a:spcPts val="5002"/>
              </a:lnSpc>
              <a:buFont typeface="Arial"/>
              <a:buChar char="•"/>
            </a:pPr>
            <a:r>
              <a:rPr lang="en-US" sz="3573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Relationships established using foreign keys</a:t>
            </a:r>
          </a:p>
          <a:p>
            <a:pPr algn="ctr">
              <a:lnSpc>
                <a:spcPts val="5002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9854" y="1844040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6833" y="2796493"/>
            <a:ext cx="14954165" cy="450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9"/>
              </a:lnSpc>
            </a:pPr>
            <a:r>
              <a:rPr lang="en-US" sz="368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</a:p>
          <a:p>
            <a:pPr algn="ctr">
              <a:lnSpc>
                <a:spcPts val="5159"/>
              </a:lnSpc>
            </a:pPr>
            <a:r>
              <a:rPr lang="en-US" sz="3685" b="true">
                <a:solidFill>
                  <a:srgbClr val="46222E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SQL QUERIES         </a:t>
            </a:r>
          </a:p>
          <a:p>
            <a:pPr algn="ctr">
              <a:lnSpc>
                <a:spcPts val="5159"/>
              </a:lnSpc>
            </a:pPr>
            <a:r>
              <a:rPr lang="en-US" sz="3685" b="true">
                <a:solidFill>
                  <a:srgbClr val="46222E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 </a:t>
            </a:r>
          </a:p>
          <a:p>
            <a:pPr algn="just" marL="795602" indent="-397801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SE</a:t>
            </a:r>
            <a:r>
              <a:rPr lang="en-US" sz="368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LECT queries for data retrieval</a:t>
            </a:r>
          </a:p>
          <a:p>
            <a:pPr algn="just" marL="795602" indent="-397801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JOIN queries to combine tables</a:t>
            </a:r>
          </a:p>
          <a:p>
            <a:pPr algn="just" marL="795602" indent="-397801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Aggregate functions (COUNT, SUM)</a:t>
            </a:r>
          </a:p>
          <a:p>
            <a:pPr algn="just" marL="795602" indent="-397801" lvl="1">
              <a:lnSpc>
                <a:spcPts val="5159"/>
              </a:lnSpc>
              <a:buFont typeface="Arial"/>
              <a:buChar char="•"/>
            </a:pPr>
            <a:r>
              <a:rPr lang="en-US" sz="3685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INSERT, UPDATE, DELETE operations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85151" y="2254459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EXAMPLE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360" y="2926593"/>
            <a:ext cx="15555086" cy="669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</a:pPr>
          </a:p>
          <a:p>
            <a:pPr algn="ctr">
              <a:lnSpc>
                <a:spcPts val="4488"/>
              </a:lnSpc>
            </a:pPr>
          </a:p>
          <a:p>
            <a:pPr algn="ctr">
              <a:lnSpc>
                <a:spcPts val="4488"/>
              </a:lnSpc>
            </a:pPr>
          </a:p>
          <a:p>
            <a:pPr algn="ctr">
              <a:lnSpc>
                <a:spcPts val="4488"/>
              </a:lnSpc>
            </a:pPr>
            <a:r>
              <a:rPr lang="en-US" sz="3206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SELECT m.Name, b.Title </a:t>
            </a:r>
          </a:p>
          <a:p>
            <a:pPr algn="ctr">
              <a:lnSpc>
                <a:spcPts val="4488"/>
              </a:lnSpc>
            </a:pPr>
            <a:r>
              <a:rPr lang="en-US" sz="3206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FROM member m</a:t>
            </a:r>
          </a:p>
          <a:p>
            <a:pPr algn="ctr">
              <a:lnSpc>
                <a:spcPts val="4488"/>
              </a:lnSpc>
            </a:pPr>
            <a:r>
              <a:rPr lang="en-US" sz="3206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JOIN issue i ON m.Member_ID = i.Member_ID</a:t>
            </a:r>
          </a:p>
          <a:p>
            <a:pPr algn="ctr">
              <a:lnSpc>
                <a:spcPts val="4488"/>
              </a:lnSpc>
            </a:pPr>
            <a:r>
              <a:rPr lang="en-US" sz="3206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JOIN book b ON i.Book_ID = b.Book_ID;</a:t>
            </a:r>
          </a:p>
          <a:p>
            <a:pPr algn="ctr">
              <a:lnSpc>
                <a:spcPts val="4488"/>
              </a:lnSpc>
            </a:pPr>
          </a:p>
          <a:p>
            <a:pPr algn="ctr">
              <a:lnSpc>
                <a:spcPts val="4488"/>
              </a:lnSpc>
            </a:pPr>
          </a:p>
          <a:p>
            <a:pPr algn="ctr">
              <a:lnSpc>
                <a:spcPts val="4488"/>
              </a:lnSpc>
            </a:pPr>
            <a:r>
              <a:rPr lang="en-US" sz="3206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Retrieves issued books with member names</a:t>
            </a:r>
          </a:p>
          <a:p>
            <a:pPr algn="ctr">
              <a:lnSpc>
                <a:spcPts val="4488"/>
              </a:lnSpc>
            </a:pPr>
          </a:p>
          <a:p>
            <a:pPr algn="ctr">
              <a:lnSpc>
                <a:spcPts val="448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85151" y="2066925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45228" y="3600027"/>
            <a:ext cx="14139434" cy="527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5"/>
              </a:lnSpc>
            </a:pPr>
            <a:r>
              <a:rPr lang="en-US" sz="3354" b="true">
                <a:solidFill>
                  <a:srgbClr val="46222E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NORMALIZATION </a:t>
            </a:r>
          </a:p>
          <a:p>
            <a:pPr algn="ctr">
              <a:lnSpc>
                <a:spcPts val="4695"/>
              </a:lnSpc>
            </a:pPr>
          </a:p>
          <a:p>
            <a:pPr algn="ctr">
              <a:lnSpc>
                <a:spcPts val="4695"/>
              </a:lnSpc>
            </a:pPr>
          </a:p>
          <a:p>
            <a:pPr algn="l">
              <a:lnSpc>
                <a:spcPts val="4695"/>
              </a:lnSpc>
            </a:pPr>
            <a:r>
              <a:rPr lang="en-US" sz="335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    </a:t>
            </a:r>
            <a:r>
              <a:rPr lang="en-US" sz="335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UNF → 1NF → 2NF → 3NF</a:t>
            </a:r>
          </a:p>
          <a:p>
            <a:pPr algn="l" marL="724151" indent="-362076" lvl="1">
              <a:lnSpc>
                <a:spcPts val="4695"/>
              </a:lnSpc>
              <a:buFont typeface="Arial"/>
              <a:buChar char="•"/>
            </a:pPr>
            <a:r>
              <a:rPr lang="en-US" sz="335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1NF: Atomic values, no repeating groups</a:t>
            </a:r>
          </a:p>
          <a:p>
            <a:pPr algn="l" marL="724151" indent="-362076" lvl="1">
              <a:lnSpc>
                <a:spcPts val="4695"/>
              </a:lnSpc>
              <a:buFont typeface="Arial"/>
              <a:buChar char="•"/>
            </a:pPr>
            <a:r>
              <a:rPr lang="en-US" sz="335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2NF: Remove partial dependency</a:t>
            </a:r>
          </a:p>
          <a:p>
            <a:pPr algn="l" marL="724151" indent="-362076" lvl="1">
              <a:lnSpc>
                <a:spcPts val="4695"/>
              </a:lnSpc>
              <a:buFont typeface="Arial"/>
              <a:buChar char="•"/>
            </a:pPr>
            <a:r>
              <a:rPr lang="en-US" sz="335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3NF: Remove transitive dependency</a:t>
            </a:r>
          </a:p>
          <a:p>
            <a:pPr algn="l">
              <a:lnSpc>
                <a:spcPts val="4695"/>
              </a:lnSpc>
            </a:pPr>
          </a:p>
          <a:p>
            <a:pPr algn="l">
              <a:lnSpc>
                <a:spcPts val="4695"/>
              </a:lnSpc>
            </a:pPr>
            <a:r>
              <a:rPr lang="en-US" sz="335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      Reduces redundancy and improves data consistency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9854" y="2066925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32035" y="3568155"/>
            <a:ext cx="11566008" cy="445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3629" b="true">
                <a:solidFill>
                  <a:srgbClr val="46222E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FINAL TABLE</a:t>
            </a:r>
          </a:p>
          <a:p>
            <a:pPr algn="ctr">
              <a:lnSpc>
                <a:spcPts val="5081"/>
              </a:lnSpc>
            </a:pPr>
          </a:p>
          <a:p>
            <a:pPr algn="l" marL="783627" indent="-391814" lvl="1">
              <a:lnSpc>
                <a:spcPts val="5081"/>
              </a:lnSpc>
              <a:buFont typeface="Arial"/>
              <a:buChar char="•"/>
            </a:pPr>
            <a:r>
              <a:rPr lang="en-US" sz="3629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B</a:t>
            </a:r>
            <a:r>
              <a:rPr lang="en-US" sz="3629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ook Table</a:t>
            </a:r>
          </a:p>
          <a:p>
            <a:pPr algn="l" marL="783627" indent="-391814" lvl="1">
              <a:lnSpc>
                <a:spcPts val="5081"/>
              </a:lnSpc>
              <a:buFont typeface="Arial"/>
              <a:buChar char="•"/>
            </a:pPr>
            <a:r>
              <a:rPr lang="en-US" sz="3629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Member Table</a:t>
            </a:r>
          </a:p>
          <a:p>
            <a:pPr algn="l" marL="783627" indent="-391814" lvl="1">
              <a:lnSpc>
                <a:spcPts val="5081"/>
              </a:lnSpc>
              <a:buFont typeface="Arial"/>
              <a:buChar char="•"/>
            </a:pPr>
            <a:r>
              <a:rPr lang="en-US" sz="3629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Issue Table</a:t>
            </a:r>
          </a:p>
          <a:p>
            <a:pPr algn="l" marL="783627" indent="-391814" lvl="1">
              <a:lnSpc>
                <a:spcPts val="5081"/>
              </a:lnSpc>
              <a:buFont typeface="Arial"/>
              <a:buChar char="•"/>
            </a:pPr>
            <a:r>
              <a:rPr lang="en-US" sz="3629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Fine Table</a:t>
            </a:r>
          </a:p>
          <a:p>
            <a:pPr algn="l" marL="783627" indent="-391814" lvl="1">
              <a:lnSpc>
                <a:spcPts val="5081"/>
              </a:lnSpc>
              <a:buFont typeface="Arial"/>
              <a:buChar char="•"/>
            </a:pPr>
            <a:r>
              <a:rPr lang="en-US" sz="3629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Librarian Table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56298" y="2066925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CONCLUSION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82896" y="4959929"/>
            <a:ext cx="13064098" cy="285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8959" indent="-584480" lvl="1">
              <a:lnSpc>
                <a:spcPts val="7580"/>
              </a:lnSpc>
              <a:buFont typeface="Arial"/>
              <a:buChar char="•"/>
            </a:pPr>
            <a:r>
              <a:rPr lang="en-US" sz="541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Da</a:t>
            </a:r>
            <a:r>
              <a:rPr lang="en-US" sz="541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tabase is well-structured</a:t>
            </a:r>
          </a:p>
          <a:p>
            <a:pPr algn="l" marL="1168959" indent="-584480" lvl="1">
              <a:lnSpc>
                <a:spcPts val="7580"/>
              </a:lnSpc>
              <a:buFont typeface="Arial"/>
              <a:buChar char="•"/>
            </a:pPr>
            <a:r>
              <a:rPr lang="en-US" sz="541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Normalization improved design</a:t>
            </a:r>
          </a:p>
          <a:p>
            <a:pPr algn="l" marL="1168959" indent="-584480" lvl="1">
              <a:lnSpc>
                <a:spcPts val="7580"/>
              </a:lnSpc>
              <a:buFont typeface="Arial"/>
              <a:buChar char="•"/>
            </a:pPr>
            <a:r>
              <a:rPr lang="en-US" sz="5414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System is efficient and reliable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7551" y="-563891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7862" y="7634174"/>
            <a:ext cx="10348352" cy="8767876"/>
          </a:xfrm>
          <a:custGeom>
            <a:avLst/>
            <a:gdLst/>
            <a:ahLst/>
            <a:cxnLst/>
            <a:rect r="r" b="b" t="t" l="l"/>
            <a:pathLst>
              <a:path h="8767876" w="10348352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13988" y="8872538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8" y="-19050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9756" y="830482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8843" y="568927"/>
            <a:ext cx="1104559" cy="919545"/>
          </a:xfrm>
          <a:custGeom>
            <a:avLst/>
            <a:gdLst/>
            <a:ahLst/>
            <a:cxnLst/>
            <a:rect r="r" b="b" t="t" l="l"/>
            <a:pathLst>
              <a:path h="919545" w="1104559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25909" y="673798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75761" y="261555"/>
            <a:ext cx="2045817" cy="2057400"/>
          </a:xfrm>
          <a:custGeom>
            <a:avLst/>
            <a:gdLst/>
            <a:ahLst/>
            <a:cxnLst/>
            <a:rect r="r" b="b" t="t" l="l"/>
            <a:pathLst>
              <a:path h="2057400" w="2045817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848580" y="9136856"/>
            <a:ext cx="3443288" cy="966788"/>
            <a:chOff x="0" y="0"/>
            <a:chExt cx="906874" cy="254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6874" cy="254627"/>
            </a:xfrm>
            <a:custGeom>
              <a:avLst/>
              <a:gdLst/>
              <a:ahLst/>
              <a:cxnLst/>
              <a:rect r="r" b="b" t="t" l="l"/>
              <a:pathLst>
                <a:path h="254627" w="906874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78979" y="9259961"/>
            <a:ext cx="780321" cy="65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85151" y="2254459"/>
            <a:ext cx="8917697" cy="13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THANK YOU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18389" y="4708978"/>
            <a:ext cx="12851223" cy="278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6"/>
              </a:lnSpc>
            </a:pPr>
            <a:r>
              <a:rPr lang="en-US" sz="5326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GITHUB REPOSITORY LINK : </a:t>
            </a:r>
            <a:r>
              <a:rPr lang="en-US" sz="5326" u="sng">
                <a:solidFill>
                  <a:srgbClr val="46222E"/>
                </a:solidFill>
                <a:latin typeface="Carollo Playscript"/>
                <a:ea typeface="Carollo Playscript"/>
                <a:cs typeface="Carollo Playscript"/>
                <a:sym typeface="Carollo Playscript"/>
                <a:hlinkClick r:id="rId10" tooltip="https://github.com/harshitanegics28/Library-Management-System"/>
              </a:rPr>
              <a:t>https://github.com/harshitanegics28/Library-Management-System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773051" y="8604837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12521" y="1988296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223" y="1986915"/>
            <a:ext cx="1036953" cy="1064038"/>
          </a:xfrm>
          <a:custGeom>
            <a:avLst/>
            <a:gdLst/>
            <a:ahLst/>
            <a:cxnLst/>
            <a:rect r="r" b="b" t="t" l="l"/>
            <a:pathLst>
              <a:path h="1064038" w="1036953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614945" y="9058099"/>
            <a:ext cx="400402" cy="40040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500816" y="5649638"/>
            <a:ext cx="248002" cy="2480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360" y="5869717"/>
            <a:ext cx="281340" cy="28134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DAHHflWA8eI</dc:identifier>
  <dcterms:modified xsi:type="dcterms:W3CDTF">2011-08-01T06:04:30Z</dcterms:modified>
  <cp:revision>1</cp:revision>
  <dc:title>Borcelle School</dc:title>
</cp:coreProperties>
</file>